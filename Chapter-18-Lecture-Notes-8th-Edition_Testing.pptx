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9" r:id="rId4"/>
    <p:sldId id="285" r:id="rId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-51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itchFamily="34" charset="0"/>
              </a:defRPr>
            </a:lvl1pPr>
          </a:lstStyle>
          <a:p>
            <a:pPr>
              <a:defRPr/>
            </a:pPr>
            <a:fld id="{5B06ADBC-D0CB-48AC-B409-C1B11E9D4E93}" type="datetimeFigureOut">
              <a:rPr lang="en-US"/>
              <a:pPr>
                <a:defRPr/>
              </a:pPr>
              <a:t>11/22/2019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itchFamily="34" charset="0"/>
              </a:defRPr>
            </a:lvl1pPr>
          </a:lstStyle>
          <a:p>
            <a:pPr>
              <a:defRPr/>
            </a:pPr>
            <a:fld id="{1B965DFB-2469-4E58-BA10-93B5BAA1B7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>
              <a:ea typeface="MS PGothic" pitchFamily="34" charset="-128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25F3621-D51B-4A69-949C-3981F45872E9}" type="slidenum">
              <a:rPr lang="en-US" altLang="en-US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9757E67B-96CB-4C29-9544-237B00B57BC6}" type="datetimeFigureOut">
              <a:rPr lang="en-US"/>
              <a:pPr>
                <a:defRPr/>
              </a:pPr>
              <a:t>11/22/2019</a:t>
            </a:fld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9714818E-4EF8-4F1F-8432-E6005B54D2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643805-DC82-4CD3-A32D-94468213BC32}" type="datetimeFigureOut">
              <a:rPr lang="en-US"/>
              <a:pPr>
                <a:defRPr/>
              </a:pPr>
              <a:t>11/22/2019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0AC68-5B6F-4894-A48D-4D81FCF169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64DCAC82-64BA-4B3C-9A64-73489CDC3F78}" type="datetimeFigureOut">
              <a:rPr lang="en-US"/>
              <a:pPr>
                <a:defRPr/>
              </a:pPr>
              <a:t>11/22/2019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15AB94CD-AC3E-4DFC-8225-9EBAB3423F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C43F31-63F1-4825-908D-8EFCF8A074A6}" type="datetimeFigureOut">
              <a:rPr lang="en-US"/>
              <a:pPr>
                <a:defRPr/>
              </a:pPr>
              <a:t>11/22/2019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F17C7-DD5C-418C-A55F-B04A26C7C7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B74C07-7C9A-4C06-B7C9-3B4B8B2CCF7A}" type="datetimeFigureOut">
              <a:rPr lang="en-US"/>
              <a:pPr>
                <a:defRPr/>
              </a:pPr>
              <a:t>11/22/2019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10A13C-3931-4493-AB28-ECF01796F6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0446A7-690B-4852-9BB9-4650E1844DEB}" type="datetimeFigureOut">
              <a:rPr lang="en-US"/>
              <a:pPr>
                <a:defRPr/>
              </a:pPr>
              <a:t>11/22/2019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D9ADD-F699-46F2-86E0-D3B805BBAD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FD7E66-CB9D-48FD-A368-41CE8025E042}" type="datetimeFigureOut">
              <a:rPr lang="en-US"/>
              <a:pPr>
                <a:defRPr/>
              </a:pPr>
              <a:t>11/22/2019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D88DC-26F2-4732-9758-0A8E2274E5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A5533-A160-4A52-BB44-2D46E4E6F313}" type="datetimeFigureOut">
              <a:rPr lang="en-US"/>
              <a:pPr>
                <a:defRPr/>
              </a:pPr>
              <a:t>11/22/2019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F9F533-BC38-4D16-9B99-8DFF68A361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B331C75-EC39-42DD-A5C8-B16C5CAE303C}" type="datetimeFigureOut">
              <a:rPr lang="en-US"/>
              <a:pPr>
                <a:defRPr/>
              </a:pPr>
              <a:t>11/22/2019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F408719-08E4-4660-B4F1-BAE3A43A7B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61A457-D630-4295-BC94-5889EDA47009}" type="datetimeFigureOut">
              <a:rPr lang="en-US"/>
              <a:pPr>
                <a:defRPr/>
              </a:pPr>
              <a:t>11/22/2019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CEDF1E-A63C-4771-8529-3FEBDFA658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E6DA1-F953-4D23-8537-5C3F242D7386}" type="datetimeFigureOut">
              <a:rPr lang="en-US"/>
              <a:pPr>
                <a:defRPr/>
              </a:pPr>
              <a:t>11/22/2019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C7A80-A297-42AD-857F-494F1EE0F8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solidFill>
                  <a:srgbClr val="045C75"/>
                </a:solidFill>
              </a:defRPr>
            </a:lvl1pPr>
          </a:lstStyle>
          <a:p>
            <a:pPr>
              <a:defRPr/>
            </a:pPr>
            <a:fld id="{8BF43CEB-E403-4D26-ABF0-166E01501AEE}" type="datetimeFigureOut">
              <a:rPr lang="en-US"/>
              <a:pPr>
                <a:defRPr/>
              </a:pPr>
              <a:t>11/22/2019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solidFill>
                  <a:srgbClr val="045C7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045C75"/>
                </a:solidFill>
              </a:defRPr>
            </a:lvl1pPr>
          </a:lstStyle>
          <a:p>
            <a:pPr>
              <a:defRPr/>
            </a:pPr>
            <a:fld id="{74869F12-DA78-43FC-BBB5-C9F1203346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31" r:id="rId2"/>
    <p:sldLayoutId id="2147483740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41" r:id="rId9"/>
    <p:sldLayoutId id="2147483737" r:id="rId10"/>
    <p:sldLayoutId id="214748373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3276600"/>
            <a:ext cx="6096000" cy="1470025"/>
          </a:xfrm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Chapter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0" y="1981200"/>
            <a:ext cx="6400800" cy="1752600"/>
          </a:xfrm>
        </p:spPr>
        <p:txBody>
          <a:bodyPr>
            <a:normAutofit/>
          </a:bodyPr>
          <a:lstStyle/>
          <a:p>
            <a:pPr marR="0" eaLnBrk="1" hangingPunct="1">
              <a:defRPr/>
            </a:pPr>
            <a:r>
              <a:rPr lang="en-CA" altLang="en-US" sz="4800">
                <a:solidFill>
                  <a:srgbClr val="4FCE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Spoilage, Rework, and Scrap </a:t>
            </a:r>
          </a:p>
          <a:p>
            <a:pPr marR="0" eaLnBrk="1" hangingPunct="1">
              <a:defRPr/>
            </a:pPr>
            <a:endParaRPr lang="en-US" altLang="en-US" sz="4800">
              <a:solidFill>
                <a:srgbClr val="4FCEFF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990600"/>
          </a:xfrm>
        </p:spPr>
        <p:txBody>
          <a:bodyPr/>
          <a:lstStyle/>
          <a:p>
            <a:pPr eaLnBrk="1" hangingPunct="1"/>
            <a:r>
              <a:rPr lang="en-CA" altLang="en-US" sz="4000" b="1" dirty="0"/>
              <a:t>Learning Objectives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eaLnBrk="1" hangingPunct="1">
              <a:buFont typeface="Wingdings" pitchFamily="2" charset="2"/>
              <a:buAutoNum type="arabicPeriod"/>
            </a:pPr>
            <a:r>
              <a:rPr lang="en-CA" altLang="en-US" dirty="0"/>
              <a:t>&lt;@Distinguish among </a:t>
            </a:r>
            <a:r>
              <a:rPr lang="en-CA" altLang="en-US" dirty="0">
                <a:solidFill>
                  <a:srgbClr val="C00000"/>
                </a:solidFill>
              </a:rPr>
              <a:t>spoilage, rework </a:t>
            </a:r>
            <a:r>
              <a:rPr lang="en-CA" altLang="en-US" dirty="0"/>
              <a:t>and </a:t>
            </a:r>
            <a:r>
              <a:rPr lang="en-CA" altLang="en-US" dirty="0">
                <a:solidFill>
                  <a:srgbClr val="C00000"/>
                </a:solidFill>
              </a:rPr>
              <a:t>scrap</a:t>
            </a:r>
            <a:r>
              <a:rPr lang="en-CA" altLang="en-US" dirty="0"/>
              <a:t>, and apply the appropriate methods to account for </a:t>
            </a:r>
            <a:r>
              <a:rPr lang="en-CA" altLang="en-US" dirty="0">
                <a:solidFill>
                  <a:srgbClr val="C00000"/>
                </a:solidFill>
              </a:rPr>
              <a:t>normal</a:t>
            </a:r>
            <a:r>
              <a:rPr lang="en-CA" altLang="en-US" dirty="0"/>
              <a:t> and </a:t>
            </a:r>
            <a:r>
              <a:rPr lang="en-CA" altLang="en-US" dirty="0">
                <a:solidFill>
                  <a:srgbClr val="C00000"/>
                </a:solidFill>
              </a:rPr>
              <a:t>abnormal spoilage</a:t>
            </a:r>
            <a:r>
              <a:rPr lang="en-CA" altLang="en-US" dirty="0"/>
              <a:t>.@&gt;</a:t>
            </a:r>
            <a:endParaRPr lang="en-CA" altLang="en-US" dirty="0">
              <a:solidFill>
                <a:srgbClr val="C00000"/>
              </a:solidFill>
            </a:endParaRPr>
          </a:p>
          <a:p>
            <a:pPr eaLnBrk="1" hangingPunct="1">
              <a:buFont typeface="Wingdings" pitchFamily="2" charset="2"/>
              <a:buAutoNum type="arabicPeriod"/>
            </a:pPr>
            <a:r>
              <a:rPr lang="en-CA" altLang="en-US" dirty="0"/>
              <a:t>Apply process-costing methods to account for spoilage using </a:t>
            </a:r>
            <a:r>
              <a:rPr lang="en-CA" altLang="en-US" dirty="0">
                <a:solidFill>
                  <a:srgbClr val="C00000"/>
                </a:solidFill>
              </a:rPr>
              <a:t>weighted-average</a:t>
            </a:r>
            <a:r>
              <a:rPr lang="en-CA" altLang="en-US" dirty="0"/>
              <a:t> and </a:t>
            </a:r>
            <a:r>
              <a:rPr lang="en-CA" altLang="en-US" dirty="0">
                <a:solidFill>
                  <a:srgbClr val="C00000"/>
                </a:solidFill>
              </a:rPr>
              <a:t>first-in, first-out (FIFO)</a:t>
            </a:r>
            <a:r>
              <a:rPr lang="en-CA" altLang="en-US" dirty="0"/>
              <a:t> methods.</a:t>
            </a:r>
          </a:p>
          <a:p>
            <a:pPr eaLnBrk="1" hangingPunct="1">
              <a:buFont typeface="Wingdings" pitchFamily="2" charset="2"/>
              <a:buAutoNum type="arabicPeriod"/>
            </a:pPr>
            <a:r>
              <a:rPr lang="en-CA" altLang="en-US" dirty="0"/>
              <a:t>Allocate costs of </a:t>
            </a:r>
            <a:r>
              <a:rPr lang="en-CA" altLang="en-US" dirty="0">
                <a:solidFill>
                  <a:srgbClr val="C00000"/>
                </a:solidFill>
              </a:rPr>
              <a:t>normal spoilage</a:t>
            </a:r>
            <a:r>
              <a:rPr lang="en-CA" altLang="en-US" dirty="0"/>
              <a:t>.</a:t>
            </a:r>
          </a:p>
          <a:p>
            <a:pPr eaLnBrk="1" hangingPunct="1">
              <a:buFont typeface="Wingdings" pitchFamily="2" charset="2"/>
              <a:buAutoNum type="arabicPeriod"/>
            </a:pPr>
            <a:r>
              <a:rPr lang="en-CA" altLang="en-US" dirty="0"/>
              <a:t>&lt;@Apply job cost allocation procedures to account for </a:t>
            </a:r>
            <a:r>
              <a:rPr lang="en-CA" altLang="en-US" dirty="0">
                <a:solidFill>
                  <a:srgbClr val="C00000"/>
                </a:solidFill>
              </a:rPr>
              <a:t>spoilage in job costing</a:t>
            </a:r>
            <a:r>
              <a:rPr lang="en-CA" altLang="en-US" dirty="0"/>
              <a:t>.@&gt;</a:t>
            </a:r>
            <a:endParaRPr lang="en-CA" altLang="en-US" dirty="0">
              <a:solidFill>
                <a:srgbClr val="C00000"/>
              </a:solidFill>
            </a:endParaRPr>
          </a:p>
          <a:p>
            <a:pPr eaLnBrk="1" hangingPunct="1">
              <a:buFont typeface="Wingdings" pitchFamily="2" charset="2"/>
              <a:buAutoNum type="arabicPeriod"/>
            </a:pPr>
            <a:r>
              <a:rPr lang="en-CA" altLang="en-US" dirty="0"/>
              <a:t>Apply cost allocation procedures to account for </a:t>
            </a:r>
            <a:r>
              <a:rPr lang="en-CA" altLang="en-US" dirty="0">
                <a:solidFill>
                  <a:srgbClr val="C00000"/>
                </a:solidFill>
              </a:rPr>
              <a:t>reworked units and scrap</a:t>
            </a:r>
            <a:r>
              <a:rPr lang="en-CA" altLang="en-US" dirty="0"/>
              <a:t>.</a:t>
            </a:r>
            <a:endParaRPr lang="en-CA" altLang="en-US" dirty="0">
              <a:solidFill>
                <a:srgbClr val="C00000"/>
              </a:solidFill>
            </a:endParaRPr>
          </a:p>
          <a:p>
            <a:pPr eaLnBrk="1" hangingPunct="1">
              <a:buFont typeface="Wingdings" pitchFamily="2" charset="2"/>
              <a:buAutoNum type="arabicPeriod"/>
            </a:pPr>
            <a:endParaRPr lang="en-CA" altLang="en-US" dirty="0"/>
          </a:p>
          <a:p>
            <a:pPr eaLnBrk="1" hangingPunct="1"/>
            <a:endParaRPr lang="en-CA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Grp="1" noChangeArrowheads="1"/>
          </p:cNvSpPr>
          <p:nvPr>
            <p:ph type="title"/>
          </p:nvPr>
        </p:nvSpPr>
        <p:spPr>
          <a:xfrm>
            <a:off x="431800" y="457200"/>
            <a:ext cx="8229600" cy="6096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altLang="en-US" sz="4400" b="1" dirty="0"/>
              <a:t>Spoilage, Rework and Scrap</a:t>
            </a:r>
          </a:p>
        </p:txBody>
      </p:sp>
      <p:sp>
        <p:nvSpPr>
          <p:cNvPr id="7171" name="Rectangle 7"/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3581400" cy="5181600"/>
          </a:xfrm>
        </p:spPr>
        <p:txBody>
          <a:bodyPr/>
          <a:lstStyle/>
          <a:p>
            <a:pPr marL="0" indent="0" eaLnBrk="1" hangingPunct="1">
              <a:buFont typeface="Wingdings 2" pitchFamily="18" charset="2"/>
              <a:buNone/>
            </a:pPr>
            <a:r>
              <a:rPr lang="en-CA" altLang="en-US" sz="2400" dirty="0">
                <a:solidFill>
                  <a:srgbClr val="C00000"/>
                </a:solidFill>
              </a:rPr>
              <a:t>Spoilage</a:t>
            </a:r>
          </a:p>
          <a:p>
            <a:pPr marL="0" indent="0" eaLnBrk="1" hangingPunct="1"/>
            <a:r>
              <a:rPr lang="en-CA" altLang="en-US" sz="2400" dirty="0"/>
              <a:t>units of production, either fully or partially completed, that &lt;@</a:t>
            </a:r>
            <a:r>
              <a:rPr lang="en-CA" altLang="en-US" sz="2400" dirty="0">
                <a:solidFill>
                  <a:srgbClr val="C00000"/>
                </a:solidFill>
              </a:rPr>
              <a:t>do not meet the specifications required@&gt;</a:t>
            </a:r>
            <a:r>
              <a:rPr lang="en-CA" altLang="en-US" sz="2400" dirty="0"/>
              <a:t> by customers for good units and that are discarded or sold for reduced prices</a:t>
            </a:r>
            <a:endParaRPr lang="en-CA" altLang="en-US" sz="1800" dirty="0"/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>
          <a:xfrm>
            <a:off x="3581400" y="1219200"/>
            <a:ext cx="5105400" cy="51054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>
                <a:schemeClr val="tx1"/>
              </a:buClr>
              <a:defRPr/>
            </a:pPr>
            <a:r>
              <a:rPr lang="en-CA" altLang="en-US" dirty="0">
                <a:solidFill>
                  <a:srgbClr val="C00000"/>
                </a:solidFill>
              </a:rPr>
              <a:t>&lt;@Rework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CA" altLang="en-US" dirty="0"/>
              <a:t>Unacceptable units of production that do not meet the specifications required by customers that are subsequently </a:t>
            </a:r>
            <a:r>
              <a:rPr lang="en-CA" altLang="en-US" dirty="0">
                <a:solidFill>
                  <a:srgbClr val="C00000"/>
                </a:solidFill>
              </a:rPr>
              <a:t>repaired and sold </a:t>
            </a:r>
            <a:r>
              <a:rPr lang="en-CA" altLang="en-US" dirty="0"/>
              <a:t>as finished goods of the same or lower quality@&gt;</a:t>
            </a:r>
          </a:p>
          <a:p>
            <a:pPr fontAlgn="auto">
              <a:spcAft>
                <a:spcPts val="0"/>
              </a:spcAft>
              <a:buClr>
                <a:schemeClr val="tx1"/>
              </a:buClr>
              <a:defRPr/>
            </a:pPr>
            <a:r>
              <a:rPr lang="en-CA" altLang="en-US" dirty="0">
                <a:solidFill>
                  <a:srgbClr val="C00000"/>
                </a:solidFill>
              </a:rPr>
              <a:t>Scrap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CA" altLang="en-US" dirty="0">
                <a:solidFill>
                  <a:srgbClr val="C00000"/>
                </a:solidFill>
              </a:rPr>
              <a:t>&lt;@Residual</a:t>
            </a:r>
            <a:r>
              <a:rPr lang="en-CA" altLang="en-US" dirty="0"/>
              <a:t> material that results from manufacturing a product 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CA" altLang="en-US" dirty="0"/>
              <a:t>Has a </a:t>
            </a:r>
            <a:r>
              <a:rPr lang="en-CA" altLang="en-US" dirty="0">
                <a:solidFill>
                  <a:srgbClr val="C00000"/>
                </a:solidFill>
              </a:rPr>
              <a:t>low total sales value</a:t>
            </a:r>
            <a:r>
              <a:rPr lang="en-CA" altLang="en-US" dirty="0"/>
              <a:t>, often zero, compared with the total sales value of the product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CA" altLang="en-US" dirty="0"/>
              <a:t>May be </a:t>
            </a:r>
            <a:r>
              <a:rPr lang="en-CA" altLang="en-US" dirty="0">
                <a:solidFill>
                  <a:srgbClr val="C00000"/>
                </a:solidFill>
              </a:rPr>
              <a:t>reused@&gt;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542338" cy="819150"/>
          </a:xfrm>
        </p:spPr>
        <p:txBody>
          <a:bodyPr/>
          <a:lstStyle/>
          <a:p>
            <a:pPr eaLnBrk="1" hangingPunct="1"/>
            <a:r>
              <a:rPr lang="en-CA" altLang="en-US" sz="4000" b="1"/>
              <a:t>Recognizing Scrap at Time of Production</a:t>
            </a:r>
          </a:p>
        </p:txBody>
      </p:sp>
      <p:sp>
        <p:nvSpPr>
          <p:cNvPr id="27651" name="Rectangle 6"/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953375" cy="5029200"/>
          </a:xfrm>
        </p:spPr>
        <p:txBody>
          <a:bodyPr/>
          <a:lstStyle/>
          <a:p>
            <a:pPr eaLnBrk="1" hangingPunct="1"/>
            <a:r>
              <a:rPr lang="en-CA" altLang="en-US" dirty="0">
                <a:ea typeface="MS PGothic" pitchFamily="34" charset="-128"/>
              </a:rPr>
              <a:t>If the value of the scrap is </a:t>
            </a:r>
            <a:r>
              <a:rPr lang="en-CA" altLang="en-US" dirty="0">
                <a:solidFill>
                  <a:srgbClr val="C00000"/>
                </a:solidFill>
                <a:ea typeface="MS PGothic" pitchFamily="34" charset="-128"/>
              </a:rPr>
              <a:t>material</a:t>
            </a:r>
            <a:r>
              <a:rPr lang="en-CA" altLang="en-US" dirty="0">
                <a:ea typeface="MS PGothic" pitchFamily="34" charset="-128"/>
              </a:rPr>
              <a:t>, and the </a:t>
            </a:r>
            <a:r>
              <a:rPr lang="en-CA" altLang="en-US" dirty="0">
                <a:solidFill>
                  <a:srgbClr val="C00000"/>
                </a:solidFill>
                <a:ea typeface="MS PGothic" pitchFamily="34" charset="-128"/>
              </a:rPr>
              <a:t>time</a:t>
            </a:r>
            <a:r>
              <a:rPr lang="en-CA" altLang="en-US" dirty="0">
                <a:ea typeface="MS PGothic" pitchFamily="34" charset="-128"/>
              </a:rPr>
              <a:t> between storing and selling it is long, then this recognition at time of production is preferred</a:t>
            </a:r>
          </a:p>
          <a:p>
            <a:pPr eaLnBrk="1" hangingPunct="1"/>
            <a:r>
              <a:rPr lang="en-CA" altLang="en-US" dirty="0">
                <a:ea typeface="MS PGothic" pitchFamily="34" charset="-128"/>
              </a:rPr>
              <a:t>The firm assig&lt;@n an inventory cost to scrap at a </a:t>
            </a:r>
            <a:r>
              <a:rPr lang="en-CA" altLang="en-US" dirty="0">
                <a:solidFill>
                  <a:srgbClr val="C00000"/>
                </a:solidFill>
                <a:ea typeface="MS PGothic" pitchFamily="34" charset="-128"/>
              </a:rPr>
              <a:t>conservative estimate of its net realizable value</a:t>
            </a:r>
            <a:r>
              <a:rPr lang="en-CA" altLang="en-US" dirty="0">
                <a:ea typeface="MS PGothic" pitchFamily="34" charset="-128"/>
              </a:rPr>
              <a:t> so that production costs and related scrap revenues are recognized in the same accounting period</a:t>
            </a:r>
          </a:p>
          <a:p>
            <a:pPr eaLnBrk="1" hangingPunct="1"/>
            <a:r>
              <a:rPr lang="en-CA" altLang="en-US" dirty="0">
                <a:ea typeface="MS PGothic" pitchFamily="34" charset="-128"/>
              </a:rPr>
              <a:t>Applied only where the tracing of scrap can be done in an </a:t>
            </a:r>
            <a:r>
              <a:rPr lang="en-CA" altLang="en-US" dirty="0">
                <a:solidFill>
                  <a:srgbClr val="C00000"/>
                </a:solidFill>
                <a:ea typeface="MS PGothic" pitchFamily="34" charset="-128"/>
              </a:rPr>
              <a:t>economically feasible </a:t>
            </a:r>
            <a:r>
              <a:rPr lang="en-CA" altLang="en-US" dirty="0">
                <a:ea typeface="MS PGothic" pitchFamily="34" charset="-128"/>
              </a:rPr>
              <a:t>way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192</TotalTime>
  <Words>270</Words>
  <Application>Microsoft Office PowerPoint</Application>
  <PresentationFormat>On-screen Show (4:3)</PresentationFormat>
  <Paragraphs>22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MS PGothic</vt:lpstr>
      <vt:lpstr>Arial</vt:lpstr>
      <vt:lpstr>Calibri</vt:lpstr>
      <vt:lpstr>Constantia</vt:lpstr>
      <vt:lpstr>Wingdings</vt:lpstr>
      <vt:lpstr>Wingdings 2</vt:lpstr>
      <vt:lpstr>Flow</vt:lpstr>
      <vt:lpstr>Chapter 18</vt:lpstr>
      <vt:lpstr>Learning Objectives</vt:lpstr>
      <vt:lpstr>Spoilage, Rework and Scrap</vt:lpstr>
      <vt:lpstr>Recognizing Scrap at Time of Production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18</dc:title>
  <dc:creator>George Quan Fun</dc:creator>
  <cp:lastModifiedBy>Jalini Selvaratnam</cp:lastModifiedBy>
  <cp:revision>19</cp:revision>
  <dcterms:created xsi:type="dcterms:W3CDTF">2015-04-22T01:31:52Z</dcterms:created>
  <dcterms:modified xsi:type="dcterms:W3CDTF">2019-11-22T17:30:18Z</dcterms:modified>
</cp:coreProperties>
</file>